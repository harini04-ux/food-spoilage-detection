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69" r:id="rId3"/>
    <p:sldId id="271" r:id="rId4"/>
    <p:sldId id="277" r:id="rId5"/>
    <p:sldId id="272" r:id="rId6"/>
    <p:sldId id="273" r:id="rId7"/>
    <p:sldId id="274" r:id="rId8"/>
    <p:sldId id="275" r:id="rId9"/>
    <p:sldId id="27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672267-D298-4EBA-8646-70B4D20BBBF9}">
          <p14:sldIdLst>
            <p14:sldId id="269"/>
            <p14:sldId id="271"/>
            <p14:sldId id="277"/>
            <p14:sldId id="272"/>
            <p14:sldId id="273"/>
            <p14:sldId id="274"/>
            <p14:sldId id="275"/>
            <p14:sldId id="276"/>
          </p14:sldIdLst>
        </p14:section>
        <p14:section name="Annexure Slides" id="{5DA9B722-F6B9-4E1E-ADC0-A6FC1575DF9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6F00"/>
    <a:srgbClr val="8EB21E"/>
    <a:srgbClr val="B4FE00"/>
    <a:srgbClr val="B3FE00"/>
    <a:srgbClr val="A6FE00"/>
    <a:srgbClr val="E9713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34587" autoAdjust="0"/>
    <p:restoredTop sz="86397" autoAdjust="0"/>
  </p:normalViewPr>
  <p:slideViewPr>
    <p:cSldViewPr snapToGrid="0" showGuides="1">
      <p:cViewPr varScale="1">
        <p:scale>
          <a:sx n="87" d="100"/>
          <a:sy n="87" d="100"/>
        </p:scale>
        <p:origin x="-1219" y="-86"/>
      </p:cViewPr>
      <p:guideLst>
        <p:guide orient="horz" pos="2160"/>
        <p:guide pos="3840"/>
      </p:guideLst>
    </p:cSldViewPr>
  </p:slideViewPr>
  <p:outlineViewPr>
    <p:cViewPr>
      <p:scale>
        <a:sx n="33" d="100"/>
        <a:sy n="33" d="100"/>
      </p:scale>
      <p:origin x="216"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6DF21E-69C7-4354-A470-F83B39365EC1}"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CF4807-DCB7-4EAE-BDB6-520AE611E5FC}"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8687465-2B2D-4641-ADEF-56B79A15743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2BECDE-610D-4F59-A982-6427A24083A8}" type="slidenum">
              <a:rPr lang="en-US" smtClean="0"/>
            </a:fld>
            <a:endParaRPr lang="en-US"/>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53195" y="6394531"/>
            <a:ext cx="523795" cy="358340"/>
          </a:xfrm>
          <a:prstGeom prst="rect">
            <a:avLst/>
          </a:prstGeom>
        </p:spPr>
      </p:pic>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7625" y="6356350"/>
            <a:ext cx="1054082" cy="457953"/>
          </a:xfrm>
          <a:prstGeom prst="rect">
            <a:avLst/>
          </a:prstGeom>
        </p:spPr>
      </p:pic>
      <p:cxnSp>
        <p:nvCxnSpPr>
          <p:cNvPr id="15" name="Straight Connector 14"/>
          <p:cNvCxnSpPr/>
          <p:nvPr userDrawn="1"/>
        </p:nvCxnSpPr>
        <p:spPr>
          <a:xfrm flipH="1">
            <a:off x="1246171" y="6394531"/>
            <a:ext cx="1" cy="297491"/>
          </a:xfrm>
          <a:prstGeom prst="line">
            <a:avLst/>
          </a:prstGeom>
          <a:ln w="889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0" name="Group 19"/>
          <p:cNvGrpSpPr/>
          <p:nvPr userDrawn="1"/>
        </p:nvGrpSpPr>
        <p:grpSpPr>
          <a:xfrm>
            <a:off x="10586720" y="88126"/>
            <a:ext cx="1534160" cy="276999"/>
            <a:chOff x="10586720" y="88126"/>
            <a:chExt cx="1534160" cy="276999"/>
          </a:xfrm>
        </p:grpSpPr>
        <p:sp>
          <p:nvSpPr>
            <p:cNvPr id="17" name="TextBox 16"/>
            <p:cNvSpPr txBox="1"/>
            <p:nvPr userDrawn="1"/>
          </p:nvSpPr>
          <p:spPr>
            <a:xfrm>
              <a:off x="10586720" y="88126"/>
              <a:ext cx="1534160" cy="276999"/>
            </a:xfrm>
            <a:prstGeom prst="rect">
              <a:avLst/>
            </a:prstGeom>
            <a:noFill/>
            <a:effectLst/>
          </p:spPr>
          <p:txBody>
            <a:bodyPr wrap="square">
              <a:spAutoFit/>
            </a:bodyPr>
            <a:lstStyle/>
            <a:p>
              <a:pPr algn="ctr"/>
              <a:r>
                <a:rPr lang="en-IN" sz="1200" b="1" dirty="0">
                  <a:solidFill>
                    <a:srgbClr val="B46F00"/>
                  </a:solidFill>
                  <a:latin typeface="Arial" panose="020B0604020202020204" pitchFamily="34" charset="0"/>
                  <a:cs typeface="Arial" panose="020B0604020202020204" pitchFamily="34" charset="0"/>
                </a:rPr>
                <a:t>AI ASCEND 2026</a:t>
              </a:r>
              <a:endParaRPr lang="en-IN" sz="1200" b="1" dirty="0">
                <a:solidFill>
                  <a:srgbClr val="B46F00"/>
                </a:solidFill>
                <a:latin typeface="Arial" panose="020B0604020202020204" pitchFamily="34" charset="0"/>
                <a:cs typeface="Arial" panose="020B0604020202020204" pitchFamily="34" charset="0"/>
              </a:endParaRPr>
            </a:p>
          </p:txBody>
        </p:sp>
        <p:sp>
          <p:nvSpPr>
            <p:cNvPr id="19" name="Rectangle 18"/>
            <p:cNvSpPr/>
            <p:nvPr userDrawn="1"/>
          </p:nvSpPr>
          <p:spPr>
            <a:xfrm>
              <a:off x="10743818" y="319405"/>
              <a:ext cx="1215767" cy="45719"/>
            </a:xfrm>
            <a:prstGeom prst="rect">
              <a:avLst/>
            </a:prstGeom>
            <a:solidFill>
              <a:srgbClr val="B46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3.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687465-2B2D-4641-ADEF-56B79A15743E}"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2BECDE-610D-4F59-A982-6427A24083A8}" type="slidenum">
              <a:rPr lang="en-US" smtClean="0"/>
            </a:fld>
            <a:endParaRPr lang="en-US"/>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l="19007" r="21625"/>
          <a:stretch>
            <a:fillRect/>
          </a:stretch>
        </p:blipFill>
        <p:spPr>
          <a:xfrm>
            <a:off x="0" y="81023"/>
            <a:ext cx="12192000" cy="680325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extLst>
              <a:ext uri="{28A0092B-C50C-407E-A947-70E740481C1C}">
                <a14:useLocalDpi xmlns:a14="http://schemas.microsoft.com/office/drawing/2010/main" val="0"/>
              </a:ext>
            </a:extLst>
          </a:blip>
          <a:srcRect l="19007" r="21625"/>
          <a:stretch>
            <a:fillRect/>
          </a:stretch>
        </p:blipFill>
        <p:spPr>
          <a:xfrm>
            <a:off x="0" y="81023"/>
            <a:ext cx="12192000" cy="6803251"/>
          </a:xfrm>
          <a:prstGeom prst="rect">
            <a:avLst/>
          </a:prstGeom>
        </p:spPr>
      </p:pic>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75462" y="4487772"/>
            <a:ext cx="735284" cy="503024"/>
          </a:xfrm>
          <a:prstGeom prst="rect">
            <a:avLst/>
          </a:prstGeom>
        </p:spPr>
      </p:pic>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5782" y="4409371"/>
            <a:ext cx="1479680" cy="642857"/>
          </a:xfrm>
          <a:prstGeom prst="rect">
            <a:avLst/>
          </a:prstGeom>
        </p:spPr>
      </p:pic>
      <p:cxnSp>
        <p:nvCxnSpPr>
          <p:cNvPr id="15" name="Straight Connector 14"/>
          <p:cNvCxnSpPr/>
          <p:nvPr/>
        </p:nvCxnSpPr>
        <p:spPr>
          <a:xfrm>
            <a:off x="2297198" y="4445713"/>
            <a:ext cx="0" cy="417607"/>
          </a:xfrm>
          <a:prstGeom prst="line">
            <a:avLst/>
          </a:prstGeom>
          <a:ln w="889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383329" y="2672343"/>
            <a:ext cx="7420975" cy="707886"/>
          </a:xfrm>
          <a:prstGeom prst="rect">
            <a:avLst/>
          </a:prstGeom>
          <a:noFill/>
        </p:spPr>
        <p:txBody>
          <a:bodyPr wrap="square">
            <a:spAutoFit/>
          </a:bodyPr>
          <a:lstStyle/>
          <a:p>
            <a:pPr algn="ctr"/>
            <a:r>
              <a:rPr lang="en-IN" sz="4000" dirty="0"/>
              <a:t>Innovating for India's Tomorrow</a:t>
            </a:r>
            <a:endParaRPr lang="en-IN" sz="4000" dirty="0">
              <a:latin typeface="Arial" panose="020B0604020202020204" pitchFamily="34" charset="0"/>
              <a:cs typeface="Arial" panose="020B0604020202020204" pitchFamily="34" charset="0"/>
            </a:endParaRPr>
          </a:p>
        </p:txBody>
      </p:sp>
      <p:sp>
        <p:nvSpPr>
          <p:cNvPr id="17" name="TextBox 16"/>
          <p:cNvSpPr txBox="1"/>
          <p:nvPr/>
        </p:nvSpPr>
        <p:spPr>
          <a:xfrm>
            <a:off x="-633046" y="1076545"/>
            <a:ext cx="12192000" cy="1569660"/>
          </a:xfrm>
          <a:prstGeom prst="rect">
            <a:avLst/>
          </a:prstGeom>
          <a:noFill/>
          <a:effectLst>
            <a:outerShdw blurRad="50800" dist="38100" dir="5400000" algn="t" rotWithShape="0">
              <a:prstClr val="black">
                <a:alpha val="40000"/>
              </a:prstClr>
            </a:outerShdw>
          </a:effectLst>
        </p:spPr>
        <p:txBody>
          <a:bodyPr wrap="square">
            <a:spAutoFit/>
          </a:bodyPr>
          <a:lstStyle/>
          <a:p>
            <a:pPr algn="ctr"/>
            <a:r>
              <a:rPr lang="en-IN" sz="9600" b="1" dirty="0">
                <a:solidFill>
                  <a:srgbClr val="B46F00"/>
                </a:solidFill>
                <a:latin typeface="Arial" panose="020B0604020202020204" pitchFamily="34" charset="0"/>
                <a:cs typeface="Arial" panose="020B0604020202020204" pitchFamily="34" charset="0"/>
              </a:rPr>
              <a:t>AI ASCEND 2026</a:t>
            </a:r>
            <a:endParaRPr lang="en-IN" sz="9600" b="1" dirty="0">
              <a:solidFill>
                <a:srgbClr val="B46F00"/>
              </a:solidFill>
              <a:latin typeface="Arial" panose="020B0604020202020204" pitchFamily="34" charset="0"/>
              <a:cs typeface="Arial" panose="020B0604020202020204" pitchFamily="34" charset="0"/>
            </a:endParaRPr>
          </a:p>
        </p:txBody>
      </p:sp>
      <p:sp>
        <p:nvSpPr>
          <p:cNvPr id="18" name="TextBox 17"/>
          <p:cNvSpPr txBox="1"/>
          <p:nvPr/>
        </p:nvSpPr>
        <p:spPr>
          <a:xfrm>
            <a:off x="1263423" y="3978319"/>
            <a:ext cx="1479681" cy="338554"/>
          </a:xfrm>
          <a:prstGeom prst="rect">
            <a:avLst/>
          </a:prstGeom>
          <a:noFill/>
        </p:spPr>
        <p:txBody>
          <a:bodyPr wrap="square">
            <a:spAutoFit/>
          </a:bodyPr>
          <a:lstStyle/>
          <a:p>
            <a:pPr algn="ctr"/>
            <a:r>
              <a:rPr lang="en-US" sz="1600" dirty="0">
                <a:latin typeface="Arial" panose="020B0604020202020204" pitchFamily="34" charset="0"/>
                <a:cs typeface="Arial" panose="020B0604020202020204" pitchFamily="34" charset="0"/>
              </a:rPr>
              <a:t>Powered by</a:t>
            </a:r>
            <a:endParaRPr lang="en-IN" sz="1600" dirty="0">
              <a:latin typeface="Arial" panose="020B0604020202020204" pitchFamily="34" charset="0"/>
              <a:cs typeface="Arial" panose="020B0604020202020204" pitchFamily="34" charset="0"/>
            </a:endParaRPr>
          </a:p>
        </p:txBody>
      </p:sp>
      <p:sp>
        <p:nvSpPr>
          <p:cNvPr id="19" name="TextBox 18"/>
          <p:cNvSpPr txBox="1"/>
          <p:nvPr/>
        </p:nvSpPr>
        <p:spPr>
          <a:xfrm>
            <a:off x="8947966" y="3988414"/>
            <a:ext cx="1479681" cy="338554"/>
          </a:xfrm>
          <a:prstGeom prst="rect">
            <a:avLst/>
          </a:prstGeom>
          <a:noFill/>
        </p:spPr>
        <p:txBody>
          <a:bodyPr wrap="square">
            <a:spAutoFit/>
          </a:bodyPr>
          <a:lstStyle/>
          <a:p>
            <a:pPr algn="ctr"/>
            <a:r>
              <a:rPr lang="en-US" sz="1600" dirty="0">
                <a:latin typeface="Arial" panose="020B0604020202020204" pitchFamily="34" charset="0"/>
                <a:cs typeface="Arial" panose="020B0604020202020204" pitchFamily="34" charset="0"/>
              </a:rPr>
              <a:t>Hosted by</a:t>
            </a:r>
            <a:endParaRPr lang="en-IN" sz="1600" dirty="0">
              <a:latin typeface="Arial" panose="020B0604020202020204" pitchFamily="34" charset="0"/>
              <a:cs typeface="Arial" panose="020B0604020202020204" pitchFamily="34" charset="0"/>
            </a:endParaRPr>
          </a:p>
        </p:txBody>
      </p:sp>
      <p:grpSp>
        <p:nvGrpSpPr>
          <p:cNvPr id="20" name="Group 19"/>
          <p:cNvGrpSpPr/>
          <p:nvPr/>
        </p:nvGrpSpPr>
        <p:grpSpPr>
          <a:xfrm>
            <a:off x="7853847" y="4367267"/>
            <a:ext cx="3945671" cy="727064"/>
            <a:chOff x="4483743" y="463493"/>
            <a:chExt cx="1960386" cy="500946"/>
          </a:xfrm>
        </p:grpSpPr>
        <p:pic>
          <p:nvPicPr>
            <p:cNvPr id="21" name="Picture 2" descr="Overview - Saveetha Engineering Colle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83743" y="463493"/>
              <a:ext cx="519647" cy="500946"/>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p:cNvSpPr txBox="1"/>
            <p:nvPr/>
          </p:nvSpPr>
          <p:spPr>
            <a:xfrm>
              <a:off x="4968593" y="556720"/>
              <a:ext cx="1475536" cy="176714"/>
            </a:xfrm>
            <a:prstGeom prst="rect">
              <a:avLst/>
            </a:prstGeom>
            <a:noFill/>
          </p:spPr>
          <p:txBody>
            <a:bodyPr wrap="square">
              <a:spAutoFit/>
            </a:bodyPr>
            <a:lstStyle/>
            <a:p>
              <a:pPr>
                <a:buNone/>
              </a:pPr>
              <a:r>
                <a:rPr lang="en-US" sz="1600" b="1" baseline="-25000" dirty="0">
                  <a:latin typeface="Arial" panose="020B0604020202020204" pitchFamily="34" charset="0"/>
                  <a:cs typeface="Arial" panose="020B0604020202020204" pitchFamily="34" charset="0"/>
                </a:rPr>
                <a:t>SAVEETHA ENGINERING COLLEGE</a:t>
              </a:r>
              <a:endParaRPr lang="en-IN" sz="1600" b="1" baseline="-25000" dirty="0">
                <a:latin typeface="Arial" panose="020B0604020202020204" pitchFamily="34" charset="0"/>
                <a:cs typeface="Arial" panose="020B0604020202020204" pitchFamily="34"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19912" y="1085767"/>
            <a:ext cx="11811000" cy="267652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College  </a:t>
            </a:r>
            <a:r>
              <a:rPr lang="en-US" sz="2400" b="1" dirty="0" smtClean="0">
                <a:latin typeface="Arial" panose="020B0604020202020204" pitchFamily="34" charset="0"/>
                <a:cs typeface="Arial" panose="020B0604020202020204" pitchFamily="34" charset="0"/>
              </a:rPr>
              <a:t>Name: </a:t>
            </a:r>
            <a:r>
              <a:rPr lang="en-US" sz="2400" dirty="0" err="1" smtClean="0">
                <a:latin typeface="Arial" panose="020B0604020202020204" pitchFamily="34" charset="0"/>
                <a:cs typeface="Arial" panose="020B0604020202020204" pitchFamily="34" charset="0"/>
              </a:rPr>
              <a:t>A</a:t>
            </a:r>
            <a:r>
              <a:rPr lang="en-US" sz="2400" dirty="0" err="1" smtClean="0">
                <a:latin typeface="Arial" panose="020B0604020202020204" pitchFamily="34" charset="0"/>
                <a:cs typeface="Arial" panose="020B0604020202020204" pitchFamily="34" charset="0"/>
              </a:rPr>
              <a:t>dhiparasakthi</a:t>
            </a:r>
            <a:r>
              <a:rPr lang="en-US" sz="2400" dirty="0" smtClean="0">
                <a:latin typeface="Arial" panose="020B0604020202020204" pitchFamily="34" charset="0"/>
                <a:cs typeface="Arial" panose="020B0604020202020204" pitchFamily="34" charset="0"/>
              </a:rPr>
              <a:t> college of Engineering, </a:t>
            </a:r>
            <a:r>
              <a:rPr lang="en-US" sz="2400" dirty="0" err="1" smtClean="0">
                <a:latin typeface="Arial" panose="020B0604020202020204" pitchFamily="34" charset="0"/>
                <a:cs typeface="Arial" panose="020B0604020202020204" pitchFamily="34" charset="0"/>
              </a:rPr>
              <a:t>Kalavai</a:t>
            </a:r>
            <a:r>
              <a:rPr lang="en-US" sz="2400" dirty="0" smtClean="0">
                <a:latin typeface="Arial" panose="020B0604020202020204" pitchFamily="34" charset="0"/>
                <a:cs typeface="Arial" panose="020B0604020202020204" pitchFamily="34" charset="0"/>
              </a:rPr>
              <a:t>.</a:t>
            </a:r>
            <a:endParaRPr lang="en-US" sz="2400" dirty="0" smtClean="0">
              <a:latin typeface="Arial" panose="020B0604020202020204" pitchFamily="34" charset="0"/>
              <a:cs typeface="Arial" panose="020B0604020202020204" pitchFamily="34" charset="0"/>
            </a:endParaRPr>
          </a:p>
          <a:p>
            <a:br>
              <a:rPr lang="en-US" sz="2400" dirty="0">
                <a:latin typeface="Arial" panose="020B0604020202020204" pitchFamily="34" charset="0"/>
                <a:cs typeface="Arial" panose="020B0604020202020204" pitchFamily="34" charset="0"/>
              </a:rPr>
            </a:br>
            <a:r>
              <a:rPr lang="en-GB" altLang="en-US" sz="2400" b="1" dirty="0" smtClean="0">
                <a:latin typeface="Arial" panose="020B0604020202020204" pitchFamily="34" charset="0"/>
                <a:cs typeface="Arial" panose="020B0604020202020204" pitchFamily="34" charset="0"/>
              </a:rPr>
              <a:t>Project by:</a:t>
            </a:r>
            <a:endParaRPr lang="en-US" sz="2400" b="1" dirty="0" smtClean="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 HARINI. </a:t>
            </a:r>
            <a:r>
              <a:rPr lang="en-US" sz="2400" dirty="0" smtClean="0">
                <a:latin typeface="Arial" panose="020B0604020202020204" pitchFamily="34" charset="0"/>
                <a:cs typeface="Arial" panose="020B0604020202020204" pitchFamily="34" charset="0"/>
              </a:rPr>
              <a:t>M </a:t>
            </a:r>
            <a:endParaRPr lang="en-US" sz="2400" dirty="0" smtClean="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rPr>
              <a:t>(harinimanimaran07@gmail.com)</a:t>
            </a:r>
            <a:endParaRPr lang="en-US" sz="2400" dirty="0">
              <a:latin typeface="Arial" panose="020B0604020202020204" pitchFamily="34" charset="0"/>
              <a:cs typeface="Arial" panose="020B0604020202020204" pitchFamily="34" charset="0"/>
            </a:endParaRPr>
          </a:p>
          <a:p>
            <a:endParaRPr lang="en-IN" sz="24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549319"/>
            <a:ext cx="11811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Agenda</a:t>
            </a:r>
            <a:endParaRPr lang="en-IN" sz="2400" b="1" dirty="0">
              <a:latin typeface="Arial" panose="020B0604020202020204" pitchFamily="34" charset="0"/>
              <a:cs typeface="Arial" panose="020B0604020202020204" pitchFamily="34" charset="0"/>
            </a:endParaRPr>
          </a:p>
        </p:txBody>
      </p:sp>
      <p:sp>
        <p:nvSpPr>
          <p:cNvPr id="5" name="TextBox 4"/>
          <p:cNvSpPr txBox="1"/>
          <p:nvPr/>
        </p:nvSpPr>
        <p:spPr>
          <a:xfrm>
            <a:off x="381000" y="1204960"/>
            <a:ext cx="6217920" cy="254569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dirty="0">
                <a:latin typeface="TWK Everett" panose="020B0204000000000000" pitchFamily="34" charset="0"/>
              </a:rPr>
              <a:t>Problem Statement</a:t>
            </a:r>
            <a:endParaRPr lang="en-IN" dirty="0">
              <a:latin typeface="TWK Everett" panose="020B0204000000000000" pitchFamily="34" charset="0"/>
            </a:endParaRPr>
          </a:p>
          <a:p>
            <a:pPr marL="285750" indent="-285750">
              <a:lnSpc>
                <a:spcPct val="150000"/>
              </a:lnSpc>
              <a:buFont typeface="Arial" panose="020B0604020202020204" pitchFamily="34" charset="0"/>
              <a:buChar char="•"/>
            </a:pPr>
            <a:r>
              <a:rPr lang="en-IN" dirty="0">
                <a:latin typeface="TWK Everett" panose="020B0204000000000000" pitchFamily="34" charset="0"/>
              </a:rPr>
              <a:t>Expected Solution</a:t>
            </a:r>
            <a:endParaRPr lang="en-IN" dirty="0">
              <a:latin typeface="TWK Everett" panose="020B0204000000000000" pitchFamily="34" charset="0"/>
            </a:endParaRPr>
          </a:p>
          <a:p>
            <a:pPr marL="285750" indent="-285750">
              <a:lnSpc>
                <a:spcPct val="150000"/>
              </a:lnSpc>
              <a:buFont typeface="Arial" panose="020B0604020202020204" pitchFamily="34" charset="0"/>
              <a:buChar char="•"/>
            </a:pPr>
            <a:r>
              <a:rPr lang="en-IN" dirty="0">
                <a:latin typeface="TWK Everett" panose="020B0204000000000000" pitchFamily="34" charset="0"/>
              </a:rPr>
              <a:t>Technical Architecture</a:t>
            </a:r>
            <a:endParaRPr lang="en-IN" dirty="0">
              <a:latin typeface="TWK Everett" panose="020B0204000000000000" pitchFamily="34" charset="0"/>
            </a:endParaRPr>
          </a:p>
          <a:p>
            <a:pPr marL="285750" indent="-285750">
              <a:lnSpc>
                <a:spcPct val="150000"/>
              </a:lnSpc>
              <a:buFont typeface="Arial" panose="020B0604020202020204" pitchFamily="34" charset="0"/>
              <a:buChar char="•"/>
            </a:pPr>
            <a:r>
              <a:rPr lang="en-IN" dirty="0">
                <a:latin typeface="TWK Everett" panose="020B0204000000000000" pitchFamily="34" charset="0"/>
              </a:rPr>
              <a:t>How is Cloud Service Used (Minimum 1 </a:t>
            </a:r>
            <a:r>
              <a:rPr lang="en-IN" dirty="0" err="1">
                <a:latin typeface="TWK Everett" panose="020B0204000000000000" pitchFamily="34" charset="0"/>
              </a:rPr>
              <a:t>aws</a:t>
            </a:r>
            <a:r>
              <a:rPr lang="en-IN" dirty="0">
                <a:latin typeface="TWK Everett" panose="020B0204000000000000" pitchFamily="34" charset="0"/>
              </a:rPr>
              <a:t> service to be used)</a:t>
            </a:r>
            <a:endParaRPr lang="en-IN" dirty="0">
              <a:latin typeface="TWK Everett" panose="020B0204000000000000" pitchFamily="34" charset="0"/>
            </a:endParaRPr>
          </a:p>
          <a:p>
            <a:pPr marL="285750" indent="-285750">
              <a:lnSpc>
                <a:spcPct val="150000"/>
              </a:lnSpc>
              <a:buFont typeface="Arial" panose="020B0604020202020204" pitchFamily="34" charset="0"/>
              <a:buChar char="•"/>
            </a:pPr>
            <a:r>
              <a:rPr lang="en-IN" dirty="0">
                <a:latin typeface="TWK Everett" panose="020B0204000000000000" pitchFamily="34" charset="0"/>
              </a:rPr>
              <a:t>Tech Diagram, Stack &amp; GitHub Repo Link</a:t>
            </a:r>
            <a:endParaRPr lang="en-IN" dirty="0">
              <a:latin typeface="TWK Everett" panose="020B0204000000000000"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0"/>
            <a:ext cx="11811000" cy="729430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Domain: Sustainability and secure digital India</a:t>
            </a:r>
            <a:endParaRPr lang="en-US" sz="2400" b="1" dirty="0">
              <a:latin typeface="Arial" panose="020B0604020202020204" pitchFamily="34" charset="0"/>
              <a:cs typeface="Arial" panose="020B0604020202020204" pitchFamily="34" charset="0"/>
            </a:endParaRPr>
          </a:p>
          <a:p>
            <a:endParaRPr lang="en-US" sz="2400"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Problem Statement: AI Breath-Print food spoilage detector ( Smell, Pattern, Intelligence system).</a:t>
            </a:r>
            <a:endParaRPr lang="en-US" b="1"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0" i="0" dirty="0">
                <a:solidFill>
                  <a:srgbClr val="1F243C"/>
                </a:solidFill>
                <a:effectLst/>
                <a:latin typeface="Inter"/>
              </a:rPr>
              <a:t>In the food industry, detecting spoilage early is important for food safety, cutting waste, and improving consumer health. Traditional spoilage detection methods mainly depend on visual checks or basic expiration dates. These methods often miss early spoilage, especially when changes aren't obvious to the eye. </a:t>
            </a:r>
            <a:endParaRPr lang="en-US" b="0" i="0" dirty="0">
              <a:solidFill>
                <a:srgbClr val="1F243C"/>
              </a:solidFill>
              <a:effectLst/>
              <a:latin typeface="Inter"/>
            </a:endParaRPr>
          </a:p>
          <a:p>
            <a:endParaRPr lang="en-US" b="0" i="0" dirty="0">
              <a:solidFill>
                <a:srgbClr val="1F243C"/>
              </a:solidFill>
              <a:effectLst/>
              <a:latin typeface="Inter"/>
            </a:endParaRPr>
          </a:p>
          <a:p>
            <a:pPr marL="285750" indent="-285750">
              <a:buFont typeface="Arial" panose="020B0604020202020204" pitchFamily="34" charset="0"/>
              <a:buChar char="•"/>
            </a:pPr>
            <a:r>
              <a:rPr lang="en-US" b="0" i="0" dirty="0">
                <a:solidFill>
                  <a:srgbClr val="1F243C"/>
                </a:solidFill>
                <a:effectLst/>
                <a:latin typeface="Inter"/>
              </a:rPr>
              <a:t>This project seeks to create an AI-based Breath Food Spoilage Intelligence System. It will use sensor technologies and machine learning to identify food spoilage by examining smell patterns and small changes before they become visible.</a:t>
            </a:r>
            <a:endParaRPr lang="en-US" b="0" i="0" dirty="0">
              <a:solidFill>
                <a:srgbClr val="1F243C"/>
              </a:solidFill>
              <a:effectLst/>
              <a:latin typeface="Inter"/>
            </a:endParaRPr>
          </a:p>
          <a:p>
            <a:endParaRPr lang="en-US" b="0" i="0" dirty="0">
              <a:solidFill>
                <a:srgbClr val="1F243C"/>
              </a:solidFill>
              <a:effectLst/>
              <a:latin typeface="Inter"/>
            </a:endParaRPr>
          </a:p>
          <a:p>
            <a:pPr marL="285750" indent="-285750">
              <a:buFont typeface="Arial" panose="020B0604020202020204" pitchFamily="34" charset="0"/>
              <a:buChar char="•"/>
            </a:pPr>
            <a:r>
              <a:rPr lang="en-US" b="0" i="0" dirty="0">
                <a:solidFill>
                  <a:srgbClr val="1F243C"/>
                </a:solidFill>
                <a:effectLst/>
                <a:latin typeface="Inter"/>
              </a:rPr>
              <a:t>The system will capture and interpret subtle gas emissions, such as ammonia, CO₂, and VOCs, released during spoilage. It will also use AI models trained to recognize spoilage patterns, allowing for real-time and accurate spoilage detection.</a:t>
            </a:r>
            <a:endParaRPr lang="en-US" b="0" i="0" dirty="0">
              <a:solidFill>
                <a:srgbClr val="1F243C"/>
              </a:solidFill>
              <a:effectLst/>
              <a:latin typeface="Inter"/>
            </a:endParaRPr>
          </a:p>
          <a:p>
            <a:endParaRPr lang="en-US" b="0" i="0" dirty="0">
              <a:solidFill>
                <a:srgbClr val="1F243C"/>
              </a:solidFill>
              <a:effectLst/>
              <a:latin typeface="Inter"/>
            </a:endParaRPr>
          </a:p>
          <a:p>
            <a:pPr marL="285750" indent="-285750">
              <a:buFont typeface="Arial" panose="020B0604020202020204" pitchFamily="34" charset="0"/>
              <a:buChar char="•"/>
            </a:pPr>
            <a:r>
              <a:rPr lang="en-US" b="0" i="0" dirty="0">
                <a:solidFill>
                  <a:srgbClr val="1F243C"/>
                </a:solidFill>
                <a:effectLst/>
                <a:latin typeface="Inter"/>
              </a:rPr>
              <a:t> The main goal is to build a multi-sensor fusion system. This system will combine gas sensors, environmental sensors like temperature and humidity, and possibly visual sensors. It will continuously monitor food quality and predict spoilage accurately.</a:t>
            </a:r>
            <a:endParaRPr lang="en-US" b="0" i="0" dirty="0">
              <a:solidFill>
                <a:srgbClr val="1F243C"/>
              </a:solidFill>
              <a:effectLst/>
              <a:latin typeface="Inter"/>
            </a:endParaRPr>
          </a:p>
          <a:p>
            <a:r>
              <a:rPr lang="en-US" b="0" i="0" dirty="0">
                <a:solidFill>
                  <a:srgbClr val="1F243C"/>
                </a:solidFill>
                <a:effectLst/>
                <a:latin typeface="Inter"/>
              </a:rPr>
              <a:t> </a:t>
            </a:r>
            <a:endParaRPr lang="en-US" b="0" i="0" dirty="0">
              <a:solidFill>
                <a:srgbClr val="1F243C"/>
              </a:solidFill>
              <a:effectLst/>
              <a:latin typeface="Inter"/>
            </a:endParaRPr>
          </a:p>
          <a:p>
            <a:pPr marL="285750" indent="-285750">
              <a:buFont typeface="Arial" panose="020B0604020202020204" pitchFamily="34" charset="0"/>
              <a:buChar char="•"/>
            </a:pPr>
            <a:r>
              <a:rPr lang="en-US" b="0" i="0" dirty="0">
                <a:solidFill>
                  <a:srgbClr val="1F243C"/>
                </a:solidFill>
                <a:effectLst/>
                <a:latin typeface="Inter"/>
              </a:rPr>
              <a:t>Machine learning models will analyze breath patterns from the food and detect spoilage risks. This will provide an early warning before spoilage becomes visible, reducing food waste and improving food safety practices.</a:t>
            </a:r>
            <a:endParaRPr lang="en-US" b="1" dirty="0">
              <a:latin typeface="Arial" panose="020B0604020202020204" pitchFamily="34" charset="0"/>
              <a:cs typeface="Arial" panose="020B0604020202020204" pitchFamily="34" charset="0"/>
            </a:endParaRPr>
          </a:p>
          <a:p>
            <a:endParaRPr lang="en-US" sz="2400" b="1" dirty="0">
              <a:latin typeface="Arial" panose="020B0604020202020204" pitchFamily="34" charset="0"/>
              <a:cs typeface="Arial" panose="020B0604020202020204" pitchFamily="34" charset="0"/>
            </a:endParaRPr>
          </a:p>
          <a:p>
            <a:endParaRPr lang="en-US" sz="2400" b="1" dirty="0">
              <a:latin typeface="Arial" panose="020B0604020202020204" pitchFamily="34" charset="0"/>
              <a:cs typeface="Arial" panose="020B0604020202020204" pitchFamily="34" charset="0"/>
            </a:endParaRPr>
          </a:p>
          <a:p>
            <a:endParaRPr lang="en-US" sz="2400" b="1" dirty="0">
              <a:latin typeface="Arial" panose="020B0604020202020204" pitchFamily="34" charset="0"/>
              <a:cs typeface="Arial" panose="020B0604020202020204" pitchFamily="34" charset="0"/>
            </a:endParaRPr>
          </a:p>
          <a:p>
            <a:endParaRPr lang="en-IN" sz="2400" b="1"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316237"/>
            <a:ext cx="11811000" cy="4708981"/>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Expected Solution</a:t>
            </a:r>
            <a:endParaRPr lang="en-US" sz="2400" b="1" dirty="0">
              <a:latin typeface="Arial" panose="020B0604020202020204" pitchFamily="34" charset="0"/>
              <a:cs typeface="Arial" panose="020B0604020202020204" pitchFamily="34" charset="0"/>
            </a:endParaRPr>
          </a:p>
          <a:p>
            <a:endParaRPr lang="en-US" sz="24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AI-Breath Food Spoilage Intelligence System provides a unique and effective way to detect spoilage early by analyzing smell patterns and environmental conditions with the help of AI.</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 This system goes beyond the usual visual methods of detecting spoilage. It offers real-time assessments that lower food waste, improve food safety, and boost food management practices for both households and businesses.</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 By identifying spoilage before it becomes visible, it helps users make better choices about their food, leading to improved health outcomes, cost savings, and greater sustainability</a:t>
            </a:r>
            <a:r>
              <a:rPr lang="en-US" b="1" dirty="0">
                <a:latin typeface="Arial" panose="020B0604020202020204" pitchFamily="34" charset="0"/>
                <a:cs typeface="Arial" panose="020B0604020202020204" pitchFamily="34" charset="0"/>
              </a:rPr>
              <a:t>.</a:t>
            </a:r>
            <a:endParaRPr lang="en-US" b="1"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1" dirty="0">
                <a:latin typeface="Arial" panose="020B0604020202020204" pitchFamily="34" charset="0"/>
                <a:cs typeface="Arial" panose="020B0604020202020204" pitchFamily="34" charset="0"/>
              </a:rPr>
              <a:t>Food Waste Reduction.</a:t>
            </a:r>
            <a:endParaRPr lang="en-US"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1" dirty="0">
                <a:latin typeface="Arial" panose="020B0604020202020204" pitchFamily="34" charset="0"/>
                <a:cs typeface="Arial" panose="020B0604020202020204" pitchFamily="34" charset="0"/>
              </a:rPr>
              <a:t>Improved Food Safety.</a:t>
            </a:r>
            <a:endParaRPr lang="en-US"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1" dirty="0">
                <a:latin typeface="Arial" panose="020B0604020202020204" pitchFamily="34" charset="0"/>
                <a:cs typeface="Arial" panose="020B0604020202020204" pitchFamily="34" charset="0"/>
              </a:rPr>
              <a:t>Cost Savings for Businesses.</a:t>
            </a:r>
            <a:endParaRPr lang="en-US"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1" dirty="0">
                <a:latin typeface="Arial" panose="020B0604020202020204" pitchFamily="34" charset="0"/>
                <a:cs typeface="Arial" panose="020B0604020202020204" pitchFamily="34" charset="0"/>
              </a:rPr>
              <a:t>Better Inventory and Resource Management.</a:t>
            </a:r>
            <a:endParaRPr lang="en-US"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                                   </a:t>
            </a:r>
            <a:endParaRPr lang="en-US" b="1" dirty="0">
              <a:latin typeface="Arial" panose="020B0604020202020204" pitchFamily="34" charset="0"/>
              <a:cs typeface="Arial" panose="020B0604020202020204" pitchFamily="34" charset="0"/>
            </a:endParaRPr>
          </a:p>
          <a:p>
            <a:endParaRPr lang="en-IN" b="1"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549319"/>
            <a:ext cx="11811000" cy="5262979"/>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Technical </a:t>
            </a:r>
            <a:r>
              <a:rPr lang="en-US" sz="2400" b="1" dirty="0" smtClean="0">
                <a:latin typeface="Arial" panose="020B0604020202020204" pitchFamily="34" charset="0"/>
                <a:cs typeface="Arial" panose="020B0604020202020204" pitchFamily="34" charset="0"/>
              </a:rPr>
              <a:t>Architecture</a:t>
            </a:r>
            <a:endParaRPr lang="en-US" sz="2400" b="1" dirty="0" smtClean="0">
              <a:latin typeface="Arial" panose="020B0604020202020204" pitchFamily="34" charset="0"/>
              <a:cs typeface="Arial" panose="020B0604020202020204" pitchFamily="34" charset="0"/>
            </a:endParaRPr>
          </a:p>
          <a:p>
            <a:endParaRPr lang="en-US" sz="2400" b="1" dirty="0" smtClean="0">
              <a:latin typeface="Arial" panose="020B0604020202020204" pitchFamily="34" charset="0"/>
              <a:cs typeface="Arial" panose="020B0604020202020204" pitchFamily="34" charset="0"/>
            </a:endParaRPr>
          </a:p>
          <a:p>
            <a:pPr marL="342900" indent="-342900">
              <a:buAutoNum type="arabicPeriod"/>
            </a:pPr>
            <a:r>
              <a:rPr lang="en-US" dirty="0" smtClean="0"/>
              <a:t>Sensing Layer Gas sensors detect smell (VOCs) released from food. </a:t>
            </a:r>
            <a:endParaRPr lang="en-US" dirty="0" smtClean="0"/>
          </a:p>
          <a:p>
            <a:pPr marL="342900" indent="-342900"/>
            <a:r>
              <a:rPr lang="en-US" dirty="0" smtClean="0"/>
              <a:t>     Components: MQ-135 Gas Sensor Module, </a:t>
            </a:r>
            <a:endParaRPr lang="en-US" dirty="0" smtClean="0"/>
          </a:p>
          <a:p>
            <a:pPr marL="342900" indent="-342900"/>
            <a:r>
              <a:rPr lang="en-US" dirty="0" smtClean="0"/>
              <a:t>                           MQ-3 Gas Sensor Module,</a:t>
            </a:r>
            <a:endParaRPr lang="en-US" dirty="0" smtClean="0"/>
          </a:p>
          <a:p>
            <a:pPr marL="342900" indent="-342900"/>
            <a:r>
              <a:rPr lang="en-US" dirty="0" smtClean="0"/>
              <a:t>                           DHT11 Temperature and Humidity Sensor connected to ESP32. </a:t>
            </a:r>
            <a:endParaRPr lang="en-US" dirty="0" smtClean="0"/>
          </a:p>
          <a:p>
            <a:pPr marL="342900" indent="-342900"/>
            <a:endParaRPr lang="en-US" dirty="0" smtClean="0"/>
          </a:p>
          <a:p>
            <a:pPr marL="342900" indent="-342900"/>
            <a:r>
              <a:rPr lang="en-US" dirty="0" smtClean="0"/>
              <a:t>2.  Data Processing Layer Sensor signals are cleaned and converted into useful features using Python tools like </a:t>
            </a:r>
            <a:r>
              <a:rPr lang="en-US" dirty="0" err="1" smtClean="0"/>
              <a:t>NumPy</a:t>
            </a:r>
            <a:r>
              <a:rPr lang="en-US" dirty="0" smtClean="0"/>
              <a:t>.</a:t>
            </a:r>
            <a:endParaRPr lang="en-US" dirty="0" smtClean="0"/>
          </a:p>
          <a:p>
            <a:pPr marL="342900" indent="-342900"/>
            <a:endParaRPr lang="en-US" dirty="0" smtClean="0"/>
          </a:p>
          <a:p>
            <a:pPr marL="342900" indent="-342900"/>
            <a:r>
              <a:rPr lang="en-US" dirty="0" smtClean="0"/>
              <a:t> 3.  AI Detection Layer Machine learning models such as Random Forest Algorithm or Support Vector Machine analyze smell patterns to classify food as Fresh, Spoiling, or Spoiled.</a:t>
            </a:r>
            <a:endParaRPr lang="en-US" dirty="0" smtClean="0"/>
          </a:p>
          <a:p>
            <a:pPr marL="342900" indent="-342900"/>
            <a:endParaRPr lang="en-US" dirty="0" smtClean="0"/>
          </a:p>
          <a:p>
            <a:pPr marL="342900" indent="-342900"/>
            <a:r>
              <a:rPr lang="en-US" dirty="0" smtClean="0"/>
              <a:t> 4.  Edge Computing Layer The trained model runs on Raspberry Pi 4 for real-time detection.</a:t>
            </a:r>
            <a:endParaRPr lang="en-US" dirty="0" smtClean="0"/>
          </a:p>
          <a:p>
            <a:pPr marL="342900" indent="-342900"/>
            <a:r>
              <a:rPr lang="en-US" dirty="0" smtClean="0"/>
              <a:t> </a:t>
            </a:r>
            <a:endParaRPr lang="en-US" dirty="0" smtClean="0"/>
          </a:p>
          <a:p>
            <a:pPr marL="342900" indent="-342900"/>
            <a:r>
              <a:rPr lang="en-US" dirty="0" smtClean="0"/>
              <a:t>5.  User Interface Layer Results are displayed in a mobile/web dashboard using tools like Flutter.</a:t>
            </a:r>
            <a:endParaRPr lang="en-US" dirty="0" smtClean="0"/>
          </a:p>
          <a:p>
            <a:pPr marL="342900" indent="-342900"/>
            <a:endParaRPr lang="en-US" dirty="0" smtClean="0"/>
          </a:p>
          <a:p>
            <a:pPr marL="342900" indent="-342900"/>
            <a:r>
              <a:rPr lang="en-US" dirty="0" smtClean="0"/>
              <a:t>        Simple Flow Food → Gas Sensors → ESP32 → AI Model → Raspberry Pi → Mobile App Output.</a:t>
            </a:r>
            <a:endParaRPr lang="en-IN" b="1"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7065" y="0"/>
            <a:ext cx="11811000" cy="7571303"/>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How is Cloud Service Used (Minimum 1 </a:t>
            </a:r>
            <a:r>
              <a:rPr lang="en-US" sz="2400" b="1" dirty="0" err="1">
                <a:latin typeface="Arial" panose="020B0604020202020204" pitchFamily="34" charset="0"/>
                <a:cs typeface="Arial" panose="020B0604020202020204" pitchFamily="34" charset="0"/>
              </a:rPr>
              <a:t>aws</a:t>
            </a:r>
            <a:r>
              <a:rPr lang="en-US" sz="2400" b="1" dirty="0">
                <a:latin typeface="Arial" panose="020B0604020202020204" pitchFamily="34" charset="0"/>
                <a:cs typeface="Arial" panose="020B0604020202020204" pitchFamily="34" charset="0"/>
              </a:rPr>
              <a:t> service to be used</a:t>
            </a:r>
            <a:r>
              <a:rPr lang="en-US" sz="2400" b="1" dirty="0" smtClean="0">
                <a:latin typeface="Arial" panose="020B0604020202020204" pitchFamily="34" charset="0"/>
                <a:cs typeface="Arial" panose="020B0604020202020204" pitchFamily="34" charset="0"/>
              </a:rPr>
              <a:t>)</a:t>
            </a:r>
            <a:endParaRPr lang="en-US" sz="2400" b="1" dirty="0" smtClean="0">
              <a:latin typeface="Arial" panose="020B0604020202020204" pitchFamily="34" charset="0"/>
              <a:cs typeface="Arial" panose="020B0604020202020204" pitchFamily="34" charset="0"/>
            </a:endParaRPr>
          </a:p>
          <a:p>
            <a:endParaRPr lang="en-US" sz="2400" b="1" dirty="0" smtClean="0">
              <a:latin typeface="Arial" panose="020B0604020202020204" pitchFamily="34" charset="0"/>
              <a:cs typeface="Arial" panose="020B0604020202020204" pitchFamily="34" charset="0"/>
            </a:endParaRPr>
          </a:p>
          <a:p>
            <a:pPr>
              <a:buFont typeface="Arial" panose="020B0604020202020204" pitchFamily="34" charset="0"/>
              <a:buChar char="•"/>
            </a:pPr>
            <a:r>
              <a:rPr lang="en-GB" dirty="0" smtClean="0">
                <a:latin typeface="Arial" panose="020B0604020202020204" pitchFamily="34" charset="0"/>
                <a:cs typeface="Arial" panose="020B0604020202020204" pitchFamily="34" charset="0"/>
              </a:rPr>
              <a:t> Internet of Things (</a:t>
            </a:r>
            <a:r>
              <a:rPr lang="en-GB" dirty="0" err="1" smtClean="0">
                <a:latin typeface="Arial" panose="020B0604020202020204" pitchFamily="34" charset="0"/>
                <a:cs typeface="Arial" panose="020B0604020202020204" pitchFamily="34" charset="0"/>
              </a:rPr>
              <a:t>IoT</a:t>
            </a:r>
            <a:r>
              <a:rPr lang="en-GB" dirty="0" smtClean="0">
                <a:latin typeface="Arial" panose="020B0604020202020204" pitchFamily="34" charset="0"/>
                <a:cs typeface="Arial" panose="020B0604020202020204" pitchFamily="34" charset="0"/>
              </a:rPr>
              <a:t>) </a:t>
            </a:r>
            <a:endParaRPr lang="en-GB" dirty="0" smtClean="0">
              <a:latin typeface="Arial" panose="020B0604020202020204" pitchFamily="34" charset="0"/>
              <a:cs typeface="Arial" panose="020B0604020202020204" pitchFamily="34" charset="0"/>
            </a:endParaRPr>
          </a:p>
          <a:p>
            <a:r>
              <a:rPr lang="en-GB" dirty="0" smtClean="0">
                <a:latin typeface="Arial" panose="020B0604020202020204" pitchFamily="34" charset="0"/>
                <a:cs typeface="Arial" panose="020B0604020202020204" pitchFamily="34" charset="0"/>
              </a:rPr>
              <a:t> </a:t>
            </a:r>
            <a:r>
              <a:rPr lang="en-GB" dirty="0" err="1" smtClean="0">
                <a:latin typeface="Arial" panose="020B0604020202020204" pitchFamily="34" charset="0"/>
                <a:cs typeface="Arial" panose="020B0604020202020204" pitchFamily="34" charset="0"/>
              </a:rPr>
              <a:t>IoT</a:t>
            </a:r>
            <a:r>
              <a:rPr lang="en-GB" dirty="0" smtClean="0">
                <a:latin typeface="Arial" panose="020B0604020202020204" pitchFamily="34" charset="0"/>
                <a:cs typeface="Arial" panose="020B0604020202020204" pitchFamily="34" charset="0"/>
              </a:rPr>
              <a:t> connects physical devices to the cloud. In your project, gas sensors and a microcontroller, like the ESP32, collect smell data from food and send it to the cloud using AWS </a:t>
            </a:r>
            <a:r>
              <a:rPr lang="en-GB" dirty="0" err="1" smtClean="0">
                <a:latin typeface="Arial" panose="020B0604020202020204" pitchFamily="34" charset="0"/>
                <a:cs typeface="Arial" panose="020B0604020202020204" pitchFamily="34" charset="0"/>
              </a:rPr>
              <a:t>IoT</a:t>
            </a:r>
            <a:r>
              <a:rPr lang="en-GB" dirty="0" smtClean="0">
                <a:latin typeface="Arial" panose="020B0604020202020204" pitchFamily="34" charset="0"/>
                <a:cs typeface="Arial" panose="020B0604020202020204" pitchFamily="34" charset="0"/>
              </a:rPr>
              <a:t> Core. This enables real-time monitoring of food freshness.  </a:t>
            </a:r>
            <a:endParaRPr lang="en-GB" dirty="0" smtClean="0">
              <a:latin typeface="Arial" panose="020B0604020202020204" pitchFamily="34" charset="0"/>
              <a:cs typeface="Arial" panose="020B0604020202020204" pitchFamily="34" charset="0"/>
            </a:endParaRPr>
          </a:p>
          <a:p>
            <a:endParaRPr lang="en-GB" dirty="0" smtClean="0">
              <a:latin typeface="Arial" panose="020B0604020202020204" pitchFamily="34" charset="0"/>
              <a:cs typeface="Arial" panose="020B0604020202020204" pitchFamily="34" charset="0"/>
            </a:endParaRPr>
          </a:p>
          <a:p>
            <a:pPr>
              <a:buFont typeface="Arial" panose="020B0604020202020204" pitchFamily="34" charset="0"/>
              <a:buChar char="•"/>
            </a:pPr>
            <a:r>
              <a:rPr lang="en-GB" dirty="0" smtClean="0">
                <a:latin typeface="Arial" panose="020B0604020202020204" pitchFamily="34" charset="0"/>
                <a:cs typeface="Arial" panose="020B0604020202020204" pitchFamily="34" charset="0"/>
              </a:rPr>
              <a:t> Artificial Intelligence / Machine Learning  </a:t>
            </a:r>
            <a:endParaRPr lang="en-GB" dirty="0" smtClean="0">
              <a:latin typeface="Arial" panose="020B0604020202020204" pitchFamily="34" charset="0"/>
              <a:cs typeface="Arial" panose="020B0604020202020204" pitchFamily="34" charset="0"/>
            </a:endParaRPr>
          </a:p>
          <a:p>
            <a:r>
              <a:rPr lang="en-GB" dirty="0" smtClean="0">
                <a:latin typeface="Arial" panose="020B0604020202020204" pitchFamily="34" charset="0"/>
                <a:cs typeface="Arial" panose="020B0604020202020204" pitchFamily="34" charset="0"/>
              </a:rPr>
              <a:t>AI examines smell patterns from sensors to spot spoilage. Machine learning models differentiate between fresh, spoiling, and spoiled food. You can train these models with Amazon </a:t>
            </a:r>
            <a:r>
              <a:rPr lang="en-GB" dirty="0" err="1" smtClean="0">
                <a:latin typeface="Arial" panose="020B0604020202020204" pitchFamily="34" charset="0"/>
                <a:cs typeface="Arial" panose="020B0604020202020204" pitchFamily="34" charset="0"/>
              </a:rPr>
              <a:t>SageMaker</a:t>
            </a:r>
            <a:r>
              <a:rPr lang="en-GB" dirty="0" smtClean="0">
                <a:latin typeface="Arial" panose="020B0604020202020204" pitchFamily="34" charset="0"/>
                <a:cs typeface="Arial" panose="020B0604020202020204" pitchFamily="34" charset="0"/>
              </a:rPr>
              <a:t>.  </a:t>
            </a:r>
            <a:endParaRPr lang="en-GB" dirty="0" smtClean="0">
              <a:latin typeface="Arial" panose="020B0604020202020204" pitchFamily="34" charset="0"/>
              <a:cs typeface="Arial" panose="020B0604020202020204" pitchFamily="34" charset="0"/>
            </a:endParaRPr>
          </a:p>
          <a:p>
            <a:endParaRPr lang="en-GB" dirty="0" smtClean="0">
              <a:latin typeface="Arial" panose="020B0604020202020204" pitchFamily="34" charset="0"/>
              <a:cs typeface="Arial" panose="020B0604020202020204" pitchFamily="34" charset="0"/>
            </a:endParaRPr>
          </a:p>
          <a:p>
            <a:pPr>
              <a:buFont typeface="Arial" panose="020B0604020202020204" pitchFamily="34" charset="0"/>
              <a:buChar char="•"/>
            </a:pPr>
            <a:r>
              <a:rPr lang="en-GB" dirty="0" smtClean="0">
                <a:latin typeface="Arial" panose="020B0604020202020204" pitchFamily="34" charset="0"/>
                <a:cs typeface="Arial" panose="020B0604020202020204" pitchFamily="34" charset="0"/>
              </a:rPr>
              <a:t> Cloud Computing  </a:t>
            </a:r>
            <a:endParaRPr lang="en-GB" dirty="0" smtClean="0">
              <a:latin typeface="Arial" panose="020B0604020202020204" pitchFamily="34" charset="0"/>
              <a:cs typeface="Arial" panose="020B0604020202020204" pitchFamily="34" charset="0"/>
            </a:endParaRPr>
          </a:p>
          <a:p>
            <a:r>
              <a:rPr lang="en-GB" dirty="0" smtClean="0">
                <a:latin typeface="Arial" panose="020B0604020202020204" pitchFamily="34" charset="0"/>
                <a:cs typeface="Arial" panose="020B0604020202020204" pitchFamily="34" charset="0"/>
              </a:rPr>
              <a:t>Cloud computing offers storage and processing power for the project. Sensor data is stored and managed in AWS cloud services, such as Amazon S3, and processed with AWS Lambda.  </a:t>
            </a:r>
            <a:endParaRPr lang="en-GB" dirty="0" smtClean="0">
              <a:latin typeface="Arial" panose="020B0604020202020204" pitchFamily="34" charset="0"/>
              <a:cs typeface="Arial" panose="020B0604020202020204" pitchFamily="34" charset="0"/>
            </a:endParaRPr>
          </a:p>
          <a:p>
            <a:endParaRPr lang="en-GB" dirty="0" smtClean="0">
              <a:latin typeface="Arial" panose="020B0604020202020204" pitchFamily="34" charset="0"/>
              <a:cs typeface="Arial" panose="020B0604020202020204" pitchFamily="34" charset="0"/>
            </a:endParaRPr>
          </a:p>
          <a:p>
            <a:pPr>
              <a:buFont typeface="Arial" panose="020B0604020202020204" pitchFamily="34" charset="0"/>
              <a:buChar char="•"/>
            </a:pPr>
            <a:r>
              <a:rPr lang="en-GB" dirty="0" smtClean="0">
                <a:latin typeface="Arial" panose="020B0604020202020204" pitchFamily="34" charset="0"/>
                <a:cs typeface="Arial" panose="020B0604020202020204" pitchFamily="34" charset="0"/>
              </a:rPr>
              <a:t> Data Analytics  </a:t>
            </a:r>
            <a:endParaRPr lang="en-GB" dirty="0" smtClean="0">
              <a:latin typeface="Arial" panose="020B0604020202020204" pitchFamily="34" charset="0"/>
              <a:cs typeface="Arial" panose="020B0604020202020204" pitchFamily="34" charset="0"/>
            </a:endParaRPr>
          </a:p>
          <a:p>
            <a:r>
              <a:rPr lang="en-GB" dirty="0" smtClean="0">
                <a:latin typeface="Arial" panose="020B0604020202020204" pitchFamily="34" charset="0"/>
                <a:cs typeface="Arial" panose="020B0604020202020204" pitchFamily="34" charset="0"/>
              </a:rPr>
              <a:t>This area focuses on examining sensor data patterns. Gas concentration values are analyzed to identify changes that suggest food spoilage. AWS tools, like AWS </a:t>
            </a:r>
            <a:r>
              <a:rPr lang="en-GB" dirty="0" err="1" smtClean="0">
                <a:latin typeface="Arial" panose="020B0604020202020204" pitchFamily="34" charset="0"/>
                <a:cs typeface="Arial" panose="020B0604020202020204" pitchFamily="34" charset="0"/>
              </a:rPr>
              <a:t>IoT</a:t>
            </a:r>
            <a:r>
              <a:rPr lang="en-GB" dirty="0" smtClean="0">
                <a:latin typeface="Arial" panose="020B0604020202020204" pitchFamily="34" charset="0"/>
                <a:cs typeface="Arial" panose="020B0604020202020204" pitchFamily="34" charset="0"/>
              </a:rPr>
              <a:t> Analytics, assist in understanding the data trends.  </a:t>
            </a:r>
            <a:endParaRPr lang="en-GB" dirty="0" smtClean="0">
              <a:latin typeface="Arial" panose="020B0604020202020204" pitchFamily="34" charset="0"/>
              <a:cs typeface="Arial" panose="020B0604020202020204" pitchFamily="34" charset="0"/>
            </a:endParaRPr>
          </a:p>
          <a:p>
            <a:endParaRPr lang="en-GB" dirty="0" smtClean="0">
              <a:latin typeface="Arial" panose="020B0604020202020204" pitchFamily="34" charset="0"/>
              <a:cs typeface="Arial" panose="020B0604020202020204" pitchFamily="34" charset="0"/>
            </a:endParaRPr>
          </a:p>
          <a:p>
            <a:pPr>
              <a:buFont typeface="Arial" panose="020B0604020202020204" pitchFamily="34" charset="0"/>
              <a:buChar char="•"/>
            </a:pPr>
            <a:r>
              <a:rPr lang="en-GB" dirty="0" smtClean="0">
                <a:latin typeface="Arial" panose="020B0604020202020204" pitchFamily="34" charset="0"/>
                <a:cs typeface="Arial" panose="020B0604020202020204" pitchFamily="34" charset="0"/>
              </a:rPr>
              <a:t> Embedded Systems  </a:t>
            </a:r>
            <a:endParaRPr lang="en-GB" dirty="0" smtClean="0">
              <a:latin typeface="Arial" panose="020B0604020202020204" pitchFamily="34" charset="0"/>
              <a:cs typeface="Arial" panose="020B0604020202020204" pitchFamily="34" charset="0"/>
            </a:endParaRPr>
          </a:p>
          <a:p>
            <a:r>
              <a:rPr lang="en-GB" dirty="0" smtClean="0">
                <a:latin typeface="Arial" panose="020B0604020202020204" pitchFamily="34" charset="0"/>
                <a:cs typeface="Arial" panose="020B0604020202020204" pitchFamily="34" charset="0"/>
              </a:rPr>
              <a:t>Embedded systems include hardware components ...</a:t>
            </a:r>
            <a:endParaRPr lang="en-US" dirty="0" smtClean="0">
              <a:latin typeface="Arial" panose="020B0604020202020204" pitchFamily="34" charset="0"/>
              <a:cs typeface="Arial" panose="020B0604020202020204" pitchFamily="34" charset="0"/>
            </a:endParaRPr>
          </a:p>
          <a:p>
            <a:endParaRPr lang="en-GB" sz="2400" b="1" dirty="0" smtClean="0">
              <a:latin typeface="Arial" panose="020B0604020202020204" pitchFamily="34" charset="0"/>
              <a:cs typeface="Arial" panose="020B0604020202020204" pitchFamily="34" charset="0"/>
            </a:endParaRPr>
          </a:p>
          <a:p>
            <a:endParaRPr lang="en-GB" sz="2400" b="1" dirty="0" smtClean="0">
              <a:latin typeface="Arial" panose="020B0604020202020204" pitchFamily="34" charset="0"/>
              <a:cs typeface="Arial" panose="020B0604020202020204" pitchFamily="34" charset="0"/>
            </a:endParaRPr>
          </a:p>
          <a:p>
            <a:endParaRPr lang="en-GB" sz="2400" b="1" dirty="0" smtClean="0">
              <a:latin typeface="Arial" panose="020B0604020202020204" pitchFamily="34" charset="0"/>
              <a:cs typeface="Arial" panose="020B0604020202020204" pitchFamily="34" charset="0"/>
            </a:endParaRPr>
          </a:p>
          <a:p>
            <a:endParaRPr lang="en-GB" sz="2400" b="1" dirty="0" smtClean="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549319"/>
            <a:ext cx="11811000" cy="1200329"/>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Tech Diagram, Stack &amp; GitHub Repo </a:t>
            </a:r>
            <a:r>
              <a:rPr lang="en-US" sz="2400" b="1" dirty="0" smtClean="0">
                <a:latin typeface="Arial" panose="020B0604020202020204" pitchFamily="34" charset="0"/>
                <a:cs typeface="Arial" panose="020B0604020202020204" pitchFamily="34" charset="0"/>
              </a:rPr>
              <a:t>Link:</a:t>
            </a:r>
            <a:endParaRPr lang="en-US" sz="2400" b="1" dirty="0" smtClean="0">
              <a:latin typeface="Arial" panose="020B0604020202020204" pitchFamily="34" charset="0"/>
              <a:cs typeface="Arial" panose="020B0604020202020204" pitchFamily="34" charset="0"/>
            </a:endParaRPr>
          </a:p>
          <a:p>
            <a:endParaRPr lang="en-US" sz="2400" b="1" dirty="0" smtClean="0">
              <a:latin typeface="Arial" panose="020B0604020202020204" pitchFamily="34" charset="0"/>
              <a:cs typeface="Arial" panose="020B0604020202020204" pitchFamily="34" charset="0"/>
            </a:endParaRPr>
          </a:p>
          <a:p>
            <a:endParaRPr lang="en-IN" sz="2400" b="1" dirty="0">
              <a:latin typeface="Arial" panose="020B0604020202020204" pitchFamily="34" charset="0"/>
              <a:cs typeface="Arial" panose="020B0604020202020204" pitchFamily="34" charset="0"/>
            </a:endParaRPr>
          </a:p>
        </p:txBody>
      </p:sp>
      <p:pic>
        <p:nvPicPr>
          <p:cNvPr id="5" name="Picture 4" descr="IMG-20260305-WA0005.jpg"/>
          <p:cNvPicPr>
            <a:picLocks noChangeAspect="1"/>
          </p:cNvPicPr>
          <p:nvPr/>
        </p:nvPicPr>
        <p:blipFill>
          <a:blip r:embed="rId1"/>
          <a:stretch>
            <a:fillRect/>
          </a:stretch>
        </p:blipFill>
        <p:spPr>
          <a:xfrm>
            <a:off x="3789485" y="1477108"/>
            <a:ext cx="5310554" cy="376310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4458</Words>
  <Application>WPS Presentation</Application>
  <PresentationFormat>Custom</PresentationFormat>
  <Paragraphs>98</Paragraphs>
  <Slides>8</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8</vt:i4>
      </vt:variant>
    </vt:vector>
  </HeadingPairs>
  <TitlesOfParts>
    <vt:vector size="22" baseType="lpstr">
      <vt:lpstr>Arial</vt:lpstr>
      <vt:lpstr>SimSun</vt:lpstr>
      <vt:lpstr>Wingdings</vt:lpstr>
      <vt:lpstr>TWK Everett</vt:lpstr>
      <vt:lpstr>Yu Gothic UI Light</vt:lpstr>
      <vt:lpstr>Inter</vt:lpstr>
      <vt:lpstr>Segoe Print</vt:lpstr>
      <vt:lpstr>Aptos</vt:lpstr>
      <vt:lpstr>Segoe UI</vt:lpstr>
      <vt:lpstr>Microsoft YaHei</vt:lpstr>
      <vt:lpstr>Arial Unicode MS</vt:lpstr>
      <vt:lpstr>Aptos Display</vt:lpstr>
      <vt:lpstr>Segoe UI Variable Display</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 Univeristy leader - Kyndryl</dc:title>
  <dc:creator>Raj Mohan C</dc:creator>
  <cp:lastModifiedBy>User</cp:lastModifiedBy>
  <cp:revision>59</cp:revision>
  <dcterms:created xsi:type="dcterms:W3CDTF">2025-07-14T05:23:00Z</dcterms:created>
  <dcterms:modified xsi:type="dcterms:W3CDTF">2026-06-03T06:29:02Z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C5EEECD845FC44ADB342696592BAB1FC_12</vt:lpwstr>
  </property>
  <property fmtid="{D5CDD505-2E9C-101B-9397-08002B2CF9AE}" pid="3" name="KSOProductBuildVer">
    <vt:lpwstr>1033-12.1.0.26372</vt:lpwstr>
  </property>
</Properties>
</file>